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66" r:id="rId2"/>
    <p:sldId id="256" r:id="rId3"/>
    <p:sldId id="257" r:id="rId4"/>
    <p:sldId id="258" r:id="rId5"/>
    <p:sldId id="259" r:id="rId6"/>
    <p:sldId id="270" r:id="rId7"/>
    <p:sldId id="271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8" r:id="rId16"/>
    <p:sldId id="269" r:id="rId17"/>
    <p:sldId id="267" r:id="rId18"/>
  </p:sldIdLst>
  <p:sldSz cx="12192000" cy="6858000"/>
  <p:notesSz cx="6858000" cy="12192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00000000000000000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75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02551D-1B26-02B3-5A46-821914B7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" y="0"/>
            <a:ext cx="12184406" cy="15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49422F-EE8D-1C44-CC4C-15A10E14DA40}"/>
              </a:ext>
            </a:extLst>
          </p:cNvPr>
          <p:cNvSpPr txBox="1"/>
          <p:nvPr/>
        </p:nvSpPr>
        <p:spPr>
          <a:xfrm>
            <a:off x="1739177" y="1711767"/>
            <a:ext cx="9323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Voice </a:t>
            </a:r>
            <a:r>
              <a:rPr lang="en-US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Controled</a:t>
            </a:r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 Virtual Assistant</a:t>
            </a:r>
            <a:endParaRPr lang="en-IN" sz="5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444FC-0917-E99F-739A-51B74C28771C}"/>
              </a:ext>
            </a:extLst>
          </p:cNvPr>
          <p:cNvSpPr txBox="1"/>
          <p:nvPr/>
        </p:nvSpPr>
        <p:spPr>
          <a:xfrm>
            <a:off x="1122947" y="4475747"/>
            <a:ext cx="278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Guided by :</a:t>
            </a:r>
            <a:br>
              <a:rPr lang="en-US" sz="2400" dirty="0"/>
            </a:br>
            <a:r>
              <a:rPr lang="en-US" sz="2400" b="1" dirty="0"/>
              <a:t>Dr.</a:t>
            </a:r>
            <a:r>
              <a:rPr lang="en-IN" sz="2400" b="1" dirty="0"/>
              <a:t>Samson Ebenezar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F0120-0183-8BF3-8CA2-5EA794B45CD3}"/>
              </a:ext>
            </a:extLst>
          </p:cNvPr>
          <p:cNvSpPr txBox="1"/>
          <p:nvPr/>
        </p:nvSpPr>
        <p:spPr>
          <a:xfrm>
            <a:off x="7790539" y="4475031"/>
            <a:ext cx="35688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Presentated</a:t>
            </a:r>
            <a:r>
              <a:rPr lang="en-US" sz="2000" dirty="0"/>
              <a:t> By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sz="2000" b="1" dirty="0"/>
              <a:t>Vishvanth U (1912260075)</a:t>
            </a:r>
            <a:br>
              <a:rPr lang="en-US" sz="2000" b="1" dirty="0"/>
            </a:br>
            <a:r>
              <a:rPr lang="en-US" sz="2000" b="1" dirty="0" err="1"/>
              <a:t>A.mohamed</a:t>
            </a:r>
            <a:r>
              <a:rPr lang="en-US" sz="2000" b="1" dirty="0"/>
              <a:t> </a:t>
            </a:r>
            <a:r>
              <a:rPr lang="en-US" sz="2000" b="1" dirty="0" err="1"/>
              <a:t>esha</a:t>
            </a:r>
            <a:r>
              <a:rPr lang="en-US" sz="2000" b="1" dirty="0"/>
              <a:t> (1915260012)</a:t>
            </a:r>
          </a:p>
          <a:p>
            <a:r>
              <a:rPr lang="en-US" sz="2000" b="1" dirty="0" err="1"/>
              <a:t>K.Parvendhan</a:t>
            </a:r>
            <a:r>
              <a:rPr lang="en-US" sz="2000" b="1" dirty="0"/>
              <a:t> (1919260009)</a:t>
            </a:r>
            <a:br>
              <a:rPr lang="en-US" sz="2000" b="1" dirty="0"/>
            </a:br>
            <a:r>
              <a:rPr lang="en-US" sz="2000" b="1" dirty="0"/>
              <a:t>M Gobinath (1919260014)</a:t>
            </a:r>
            <a:br>
              <a:rPr lang="en-US" sz="2000" b="1" dirty="0"/>
            </a:br>
            <a:r>
              <a:rPr lang="en-US" sz="2000" b="1" dirty="0"/>
              <a:t>Nishok Darshan (1921260044)</a:t>
            </a:r>
            <a:endParaRPr lang="en-IN" sz="20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C1AE3-96DB-D4BF-2929-965C742E1F99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6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Voice-Controlled Virtual Assistant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privacy-first, locally-running Alexa-like assistant powered by Qwen AI and LM Studio — all computation stays on your machine.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845C7-7474-05E4-B39D-6D1C5D39445D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63E736-5F60-7DBF-A10D-C3B48B41E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E16854-66E8-4BF2-313B-5309CD88D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9BC2A7-95A8-4441-B428-1B3BEC98170C}"/>
              </a:ext>
            </a:extLst>
          </p:cNvPr>
          <p:cNvSpPr txBox="1"/>
          <p:nvPr/>
        </p:nvSpPr>
        <p:spPr>
          <a:xfrm>
            <a:off x="6465702" y="640081"/>
            <a:ext cx="31060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Introduction</a:t>
            </a:r>
            <a:endParaRPr lang="en-I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0839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and Objective: Cloud Dependency &amp; Privacy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27808"/>
            <a:ext cx="6296860" cy="11050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0210" y="2000349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Exposure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10210" y="2315071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 voice assistants stream raw audio to remote cloud servers with every query.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57624"/>
            <a:ext cx="6296860" cy="8824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0210" y="3230166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Third-Party Data Risk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0210" y="3544888"/>
            <a:ext cx="58755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voice data is processed and potentially retained by third-party service providers.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64794"/>
            <a:ext cx="6296860" cy="8824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0210" y="4237335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Always-Online Requirement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10210" y="4552057"/>
            <a:ext cx="58755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internet connection means no assistant — a fundamental architectural fragility.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71963"/>
            <a:ext cx="6296860" cy="11050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0210" y="5244505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Limited Customization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910210" y="5559227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Closed ecosystems prevent developers from modifying model behavior or extending capabilities.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7AF87D-A9B6-B533-8896-EB229D8E2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5C2DC3-1F4B-5D12-AF93-B1702EAC3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40206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Solution: Local-First Architecture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77237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All processing on-device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cloud calls, ever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Qwen AI model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runs entirely via LM Studio on your hardware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 voice privacy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your audio never leaves the machine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Fully customizable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modify prompts, behaviors, and pipelines freely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39291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67965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61019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not a wrapper around a cloud API — it is a genuinely air-gapped intelligence stack.</a:t>
            </a: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FFF8D-00EA-EE28-17E5-865FFAF6CF37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523C45-B5DE-76FE-B858-123BE53E2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093BE6-D1E7-C292-D33E-9ADE575AB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806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</a:t>
            </a:r>
            <a:endParaRPr lang="en-US" sz="185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239440"/>
            <a:ext cx="2246753" cy="61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Capture &amp; Transcribe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357809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Orchestrate &amp; Infer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36884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Synthesize Output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626129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component in the pipeline is fully offline. The Python orchestrator acts as the central nervous system, coordinating audio capture, transcription, inference, and playback without any external network calls.</a:t>
            </a:r>
            <a:endParaRPr lang="en-US" sz="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1335DF-888D-FCE4-26AF-7E446B673FE7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6FD65-2899-3139-2B5A-944234491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85BCFB-2557-EE6F-B76B-D4FB02097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96A86C-C904-AAEE-4DA9-4D681CBBE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0"/>
            <a:ext cx="9083040" cy="68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F1A89-9A0D-A212-6806-54B42A4F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501" y="0"/>
            <a:ext cx="8380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8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FD5D8-AE7E-BABF-22EB-A1E3A944F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090"/>
          <a:stretch>
            <a:fillRect/>
          </a:stretch>
        </p:blipFill>
        <p:spPr>
          <a:xfrm>
            <a:off x="1524000" y="0"/>
            <a:ext cx="9387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5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Design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94905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Speak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92109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speaks a command or question into the microphone.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94905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7359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4347359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Transcribe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47359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Faster-Whisper processes the audio buffer and outputs a text transcript — fully offline.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244" y="2094905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33244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8"/>
          <p:cNvSpPr/>
          <p:nvPr/>
        </p:nvSpPr>
        <p:spPr>
          <a:xfrm>
            <a:off x="8033244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33244" y="292109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sends the transcribed text to the LM Studio local REST API endpoint.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82666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1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61475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processes the prompt and generates a contextually aware response.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4182666"/>
            <a:ext cx="189007" cy="18901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4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Speak Back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190301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Text-to-speech (Piper or pyttsx3) synthesizes audio and the speaker plays the response.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465D1B-B69E-F0B9-8CF4-4FFA5DBDF784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4CD5C9-C1FE-825F-8CDF-CBD6277CC3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CE678F-EB12-7C6D-2E2C-DE48BE8C07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195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Requirements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25229"/>
            <a:ext cx="2175019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20591"/>
            <a:ext cx="17843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Microphone &amp; Speaker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00152"/>
            <a:ext cx="1784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standard laptop mic and audio output — no specialized hardware needed.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25501" y="2625229"/>
            <a:ext cx="2175118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0858" y="2820591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RAM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220858" y="3304877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GB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run the stack.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 GB recommended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smooth Qwen inference.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389626" y="2625229"/>
            <a:ext cx="2175118" cy="2387104"/>
          </a:xfrm>
          <a:prstGeom prst="roundRect">
            <a:avLst>
              <a:gd name="adj" fmla="val 36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4983" y="2820591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(Optional)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584983" y="3304877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CUDA-compatible GPU significantly reduces response latency. CPU-only is fully supported.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10B6F5-20BD-CDDA-F26D-FD3AF8F502C4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9CD3CB-B1C3-D2E0-F08F-0C5F4FFE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5E4F38-5D99-9688-4912-6FD43EBEF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01080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1501080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3.x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1909763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orchestration language — coordinates all components via clean, modular scripts.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501080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150108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LM Studio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1909763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the Qwen model locally and exposes an OpenAI-compatible REST API for inference.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501080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150108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Qwen Model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1909763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natural language understanding and response generation entirely on-device.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501080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150108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Faster-Whisper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1909763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High-performance offline speech-to-text — CTranslate2-optimized Whisper inference.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02298"/>
            <a:ext cx="558786" cy="558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6495" y="4102298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Piper / pyttsx3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456495" y="4510980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 text-to-speech engines. Piper for high-quality neural voices; pyttsx3 for lightweight fallback.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E2785C-26C9-DF38-EC92-947C06E0B7F5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C196A3-DD41-3297-A5B6-3DDBBC2B17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CCFA15-7772-F4BA-E596-1412E2AB5C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79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669" y="435868"/>
            <a:ext cx="6616403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Capabilities and Implementation (MVP)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61475" y="1358503"/>
            <a:ext cx="6296860" cy="4961632"/>
          </a:xfrm>
          <a:prstGeom prst="roundRect">
            <a:avLst>
              <a:gd name="adj" fmla="val 152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364853"/>
            <a:ext cx="6284160" cy="1307604"/>
          </a:xfrm>
          <a:custGeom>
            <a:avLst/>
            <a:gdLst/>
            <a:ahLst/>
            <a:cxnLst/>
            <a:rect l="l" t="t" r="r" b="b"/>
            <a:pathLst>
              <a:path w="6284160" h="1307604">
                <a:moveTo>
                  <a:pt x="63055" y="0"/>
                </a:moveTo>
                <a:lnTo>
                  <a:pt x="6221105" y="0"/>
                </a:lnTo>
                <a:arcTo wR="63055" hR="63057" stAng="16200000" swAng="5400000"/>
                <a:lnTo>
                  <a:pt x="6284160" y="1307604"/>
                </a:lnTo>
                <a:lnTo>
                  <a:pt x="0" y="1307604"/>
                </a:lnTo>
                <a:lnTo>
                  <a:pt x="0" y="63057"/>
                </a:lnTo>
                <a:arcTo wR="63055" hR="63057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47902" y="1544935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Q&amp;A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1929408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questions using Qwen's built-in knowledge base — no internet lookup required.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825" y="2672457"/>
            <a:ext cx="6284160" cy="102612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267245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47902" y="2852539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&amp; Date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7902" y="3237012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and report current time and date from the local system clock.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825" y="3698577"/>
            <a:ext cx="6284160" cy="1307604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369857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847902" y="3878659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&amp; Web Launch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47902" y="4263132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applications and URLs via parsed voice commands and Python subprocess calls.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825" y="5006181"/>
            <a:ext cx="6284160" cy="1307604"/>
          </a:xfrm>
          <a:custGeom>
            <a:avLst/>
            <a:gdLst/>
            <a:ahLst/>
            <a:cxnLst/>
            <a:rect l="l" t="t" r="r" b="b"/>
            <a:pathLst>
              <a:path w="6284160" h="1307604">
                <a:moveTo>
                  <a:pt x="0" y="0"/>
                </a:moveTo>
                <a:lnTo>
                  <a:pt x="6284160" y="0"/>
                </a:lnTo>
                <a:lnTo>
                  <a:pt x="6284160" y="1244547"/>
                </a:lnTo>
                <a:arcTo wR="63055" hR="63057" stAng="0" swAng="5400000"/>
                <a:lnTo>
                  <a:pt x="63055" y="1307604"/>
                </a:lnTo>
                <a:arcTo wR="63055" hR="63057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00618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847902" y="5186263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Commands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847902" y="5570736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shell-level system operations — file management, process control, and more.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F67AFB-68D6-9F2A-FF8B-21894788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8D0BB3-8CB4-2BE3-8DEA-5047440E7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1791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1452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Wake-word detection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always-listening mode triggered by a custom hotword, no button press needed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Reminders &amp; scheduling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natural language task creation integrated with local calendar systems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Smart-home control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send commands to local home automation hubs (Home Assistant, MQTT)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ESP32 IoT integration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extend voice control to embedded microcontroller devices over serial or Wi-Fi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E29230-47AB-D9FF-92A2-80D4535CF110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19B1D-7D5F-5925-625D-0E8347500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6981D-A61C-45E7-F4E3-661F76F1F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Advantage of Voice controlled Virtual </a:t>
            </a:r>
            <a:r>
              <a:rPr lang="en-US" sz="36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assaistant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cloud dependency. Voice data never leaves the device — no logs, no telemetry, no exposure.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Customization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Modify Qwen system prompts, swap models, and extend behaviors to fit any use case.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Offline-First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without an internet connection. Reliable in restricted or air-gapped environments.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Cost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API fees, no subscriptions, no rate limits. Run inference as often as needed at no marginal cost.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D2160D-4255-CEF6-67B0-4C4070BB7748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2EF7F80-CB6D-2009-87FE-8882374804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781A0F-22ED-C43C-18FD-90D5489A32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A2BAB-FE17-7816-38C1-920F767C7632}"/>
              </a:ext>
            </a:extLst>
          </p:cNvPr>
          <p:cNvSpPr txBox="1"/>
          <p:nvPr/>
        </p:nvSpPr>
        <p:spPr>
          <a:xfrm>
            <a:off x="1440024" y="2360273"/>
            <a:ext cx="107208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AI-Assistance</a:t>
            </a:r>
            <a:r>
              <a:rPr lang="en-IN" dirty="0"/>
              <a:t> – Answer questions, tell time/date, and perform voice commands.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Education</a:t>
            </a:r>
            <a:r>
              <a:rPr lang="en-IN" dirty="0"/>
              <a:t> – Help students with explanations, study-related questions, and learning tasks.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Desktop Automation</a:t>
            </a:r>
            <a:r>
              <a:rPr lang="en-IN" dirty="0"/>
              <a:t> – Open applications, websites, files, and perform system operations. </a:t>
            </a:r>
            <a:br>
              <a:rPr lang="en-IN" dirty="0"/>
            </a:b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Privacy-Sensitive Environments</a:t>
            </a:r>
            <a:r>
              <a:rPr lang="en-IN" dirty="0"/>
              <a:t> – Useful where voice data should remain on the local device.</a:t>
            </a:r>
            <a:br>
              <a:rPr lang="en-IN" dirty="0"/>
            </a:b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IoT &amp; Smart Homes</a:t>
            </a:r>
            <a:r>
              <a:rPr lang="en-IN" dirty="0"/>
              <a:t> – Can be extended to control ESP32 and other local devices.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57BAE-933A-6BFD-20BD-0F0B3DBC782E}"/>
              </a:ext>
            </a:extLst>
          </p:cNvPr>
          <p:cNvSpPr txBox="1"/>
          <p:nvPr/>
        </p:nvSpPr>
        <p:spPr>
          <a:xfrm>
            <a:off x="1440024" y="587829"/>
            <a:ext cx="9311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The Uses of our project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18D6D-3C44-85BC-CC97-1D7BC209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27C144-ADA6-17B1-438D-54C9BD41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6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BCFE04-DA4A-3E19-1E7D-3659669FE93C}"/>
              </a:ext>
            </a:extLst>
          </p:cNvPr>
          <p:cNvSpPr txBox="1"/>
          <p:nvPr/>
        </p:nvSpPr>
        <p:spPr>
          <a:xfrm>
            <a:off x="1847462" y="1922107"/>
            <a:ext cx="82692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r>
              <a:rPr lang="en-IN" dirty="0"/>
              <a:t>• Python Official Documentation – Python 3.x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LM Studio Documentation – Local LLM and REST API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Qwen – Large Language Model Documentation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Faster-Whisper – Offline Speech-to-Text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Piper – Offline Neural Text-to-Speech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pyttsx3 – Python Text-to-Speech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3DC34-6C96-2BA8-EF82-E19A05F86AE4}"/>
              </a:ext>
            </a:extLst>
          </p:cNvPr>
          <p:cNvSpPr txBox="1"/>
          <p:nvPr/>
        </p:nvSpPr>
        <p:spPr>
          <a:xfrm>
            <a:off x="2674387" y="671804"/>
            <a:ext cx="63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REFERENCES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18350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8FE4EB-3844-9EC5-9A3A-C3EF8AC46CA8}"/>
              </a:ext>
            </a:extLst>
          </p:cNvPr>
          <p:cNvSpPr/>
          <p:nvPr/>
        </p:nvSpPr>
        <p:spPr>
          <a:xfrm>
            <a:off x="10956387" y="6350993"/>
            <a:ext cx="1147666" cy="432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F0D723-4EE4-19C0-30CF-1308FD921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53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05D2F3-1748-A330-7C4E-CA718CEA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29921" cy="640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2ABF58-939E-0436-7104-77F20A513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561" y="35158"/>
            <a:ext cx="726439" cy="6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815</Words>
  <Application>Microsoft Office PowerPoint</Application>
  <PresentationFormat>Widescreen</PresentationFormat>
  <Paragraphs>97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 Bold</vt:lpstr>
      <vt:lpstr>Cambria</vt:lpstr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vishvanth</dc:creator>
  <cp:lastModifiedBy>nishokdarshan@hotmail.com</cp:lastModifiedBy>
  <cp:revision>9</cp:revision>
  <dcterms:created xsi:type="dcterms:W3CDTF">2026-09-01T02:42:03Z</dcterms:created>
  <dcterms:modified xsi:type="dcterms:W3CDTF">2026-09-05T15:46:46Z</dcterms:modified>
</cp:coreProperties>
</file>